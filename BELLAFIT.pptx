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71" r:id="rId4"/>
    <p:sldId id="258" r:id="rId5"/>
    <p:sldId id="263" r:id="rId6"/>
    <p:sldId id="269" r:id="rId7"/>
    <p:sldId id="259" r:id="rId8"/>
    <p:sldId id="266" r:id="rId9"/>
    <p:sldId id="261" r:id="rId10"/>
    <p:sldId id="268" r:id="rId11"/>
    <p:sldId id="257" r:id="rId12"/>
    <p:sldId id="270" r:id="rId13"/>
    <p:sldId id="267" r:id="rId14"/>
    <p:sldId id="262" r:id="rId15"/>
    <p:sldId id="260"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B9974-E6E7-5A5E-01C8-0213655347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53EB92-4196-17FD-A9A2-7AF112079F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8761EC-EB02-DCEB-2068-5ABC872B0F69}"/>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5" name="Footer Placeholder 4">
            <a:extLst>
              <a:ext uri="{FF2B5EF4-FFF2-40B4-BE49-F238E27FC236}">
                <a16:creationId xmlns:a16="http://schemas.microsoft.com/office/drawing/2014/main" id="{C9F02DC0-5A9A-3858-C7E8-7DCEFD220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AC129-6D46-D2D8-0270-EB13B292D740}"/>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2928906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E6E77-686B-AEE2-5C70-63C041732D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459D7A-10F9-5962-B6BD-97A18CDB44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E39DC-CB99-6A6F-0B4A-3639A526B14A}"/>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5" name="Footer Placeholder 4">
            <a:extLst>
              <a:ext uri="{FF2B5EF4-FFF2-40B4-BE49-F238E27FC236}">
                <a16:creationId xmlns:a16="http://schemas.microsoft.com/office/drawing/2014/main" id="{5C4AFBF8-E738-66FA-5127-E6326BECB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4D5CC3-7C5F-52B2-2594-1B00F9BA189A}"/>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380867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BDAC7-8C1C-4653-FA00-39764DF9C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0C0EB0-BFD8-B896-0640-0FB9B46102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5BCC3D-9232-FF70-6266-22242FFA2C90}"/>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5" name="Footer Placeholder 4">
            <a:extLst>
              <a:ext uri="{FF2B5EF4-FFF2-40B4-BE49-F238E27FC236}">
                <a16:creationId xmlns:a16="http://schemas.microsoft.com/office/drawing/2014/main" id="{0B93E475-AA0A-2AEF-1D9D-A143D4E8A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6C4E3-6765-8ADB-E20D-9075A10CA0CE}"/>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115467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9EC38-678E-30C3-AAC6-4B38F11B65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EFE6E-2C59-459F-C4B3-F17B0B945C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E10AC0-0A12-F77E-C814-3E87A3E0BD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BBD33E-1B40-E79E-B7ED-6A43D4B4233F}"/>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6" name="Footer Placeholder 5">
            <a:extLst>
              <a:ext uri="{FF2B5EF4-FFF2-40B4-BE49-F238E27FC236}">
                <a16:creationId xmlns:a16="http://schemas.microsoft.com/office/drawing/2014/main" id="{9F7A5CDC-A8EB-7BA4-00D9-FB8CF1E4A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BA6019-2FC6-A849-507D-8E60C54CEA54}"/>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695528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F423-4DF5-D76F-D9A7-59B64F9A43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71CD7B-BF7F-4EBF-6772-9119F09493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45EE7D-13D0-1884-7B41-A804DE3826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15E64-C4DB-6CF1-FBD1-156AC7AC00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642423-E5FD-41AE-6764-096E8C914E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75FCCB-620D-7CFA-D3F8-4C02D825DFB5}"/>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8" name="Footer Placeholder 7">
            <a:extLst>
              <a:ext uri="{FF2B5EF4-FFF2-40B4-BE49-F238E27FC236}">
                <a16:creationId xmlns:a16="http://schemas.microsoft.com/office/drawing/2014/main" id="{B387FF51-FE7B-534E-0124-6FB7E6FD2A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F2F239-6C5B-4F96-4893-93CFFAF90834}"/>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3509072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1B0C2-9624-2EC9-AC39-46B520894B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12739E-18DE-1B27-F691-A7DD8D9581C7}"/>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4" name="Footer Placeholder 3">
            <a:extLst>
              <a:ext uri="{FF2B5EF4-FFF2-40B4-BE49-F238E27FC236}">
                <a16:creationId xmlns:a16="http://schemas.microsoft.com/office/drawing/2014/main" id="{9EA8AB04-6EF0-3E0D-9426-FCFFB65E59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874036-42C3-A94C-4E3D-BE4DF6B68705}"/>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2384604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105359-F4AF-B7C9-DCEE-5E89741B7D40}"/>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3" name="Footer Placeholder 2">
            <a:extLst>
              <a:ext uri="{FF2B5EF4-FFF2-40B4-BE49-F238E27FC236}">
                <a16:creationId xmlns:a16="http://schemas.microsoft.com/office/drawing/2014/main" id="{995204F9-69B8-18F3-4855-F4AD2934A3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BC84EC-81AF-2BEB-9A50-F89C14E9FE04}"/>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7967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FE00E-937A-DB22-59D1-D4090AFC13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B47C70-5B9D-4D3A-76F7-81BBD1326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96F59D-A564-1611-8B2A-AC41941CD4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D8B36-2214-96C4-16A7-99C047E7560E}"/>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6" name="Footer Placeholder 5">
            <a:extLst>
              <a:ext uri="{FF2B5EF4-FFF2-40B4-BE49-F238E27FC236}">
                <a16:creationId xmlns:a16="http://schemas.microsoft.com/office/drawing/2014/main" id="{1AAF7B52-222C-32E0-23A8-FA089F4721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69217F-C68F-3CCB-260D-24B20F697944}"/>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1967699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2BD4B-3EE5-6C0F-15E1-B8838DA8FD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A78069-07FC-3D64-1935-FB0E1A6E18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D123FE-2E6E-FBB0-4C00-C85AB1F62A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1CC61-3AB9-9DE9-6C05-1C2941A20BA3}"/>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6" name="Footer Placeholder 5">
            <a:extLst>
              <a:ext uri="{FF2B5EF4-FFF2-40B4-BE49-F238E27FC236}">
                <a16:creationId xmlns:a16="http://schemas.microsoft.com/office/drawing/2014/main" id="{4FA3CC87-4E0D-3F18-FA0A-B8EB4A95EB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6DD1B5-1445-37E2-EE8C-A8E334D3CD2B}"/>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2518901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0EA2-B000-FFFF-3C71-CDAE8AD366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8726C3-8D6E-D02C-674F-0EA1C4438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85692C-DFC3-2B85-2D17-3C3BD85B31E3}"/>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5" name="Footer Placeholder 4">
            <a:extLst>
              <a:ext uri="{FF2B5EF4-FFF2-40B4-BE49-F238E27FC236}">
                <a16:creationId xmlns:a16="http://schemas.microsoft.com/office/drawing/2014/main" id="{068A2F7F-D7CD-1EE1-541A-5556C175BE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2CBE30-BC16-BFEB-7439-22065BC9B27C}"/>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414154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0A56D-4C66-652D-66A7-F74026F069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889D9B-AE9C-62F0-1581-D0967F0098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5B17F1-959F-BE82-B542-5525C1FF3247}"/>
              </a:ext>
            </a:extLst>
          </p:cNvPr>
          <p:cNvSpPr>
            <a:spLocks noGrp="1"/>
          </p:cNvSpPr>
          <p:nvPr>
            <p:ph type="dt" sz="half" idx="10"/>
          </p:nvPr>
        </p:nvSpPr>
        <p:spPr/>
        <p:txBody>
          <a:bodyPr/>
          <a:lstStyle/>
          <a:p>
            <a:fld id="{B21AF6CA-53FC-431C-B24A-BF983D202BC5}" type="datetimeFigureOut">
              <a:rPr lang="en-US" smtClean="0"/>
              <a:t>12/11/2025</a:t>
            </a:fld>
            <a:endParaRPr lang="en-US"/>
          </a:p>
        </p:txBody>
      </p:sp>
      <p:sp>
        <p:nvSpPr>
          <p:cNvPr id="5" name="Footer Placeholder 4">
            <a:extLst>
              <a:ext uri="{FF2B5EF4-FFF2-40B4-BE49-F238E27FC236}">
                <a16:creationId xmlns:a16="http://schemas.microsoft.com/office/drawing/2014/main" id="{5E3582BE-C25F-D37E-E59A-E6DE6078F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A6C20F-050B-E137-5224-546216A956DB}"/>
              </a:ext>
            </a:extLst>
          </p:cNvPr>
          <p:cNvSpPr>
            <a:spLocks noGrp="1"/>
          </p:cNvSpPr>
          <p:nvPr>
            <p:ph type="sldNum" sz="quarter" idx="12"/>
          </p:nvPr>
        </p:nvSpPr>
        <p:spPr/>
        <p:txBody>
          <a:bodyPr/>
          <a:lstStyle/>
          <a:p>
            <a:fld id="{32D71B3C-FFCF-43F7-AC4B-0E7DB9C1DA3A}" type="slidenum">
              <a:rPr lang="en-US" smtClean="0"/>
              <a:t>‹#›</a:t>
            </a:fld>
            <a:endParaRPr lang="en-US"/>
          </a:p>
        </p:txBody>
      </p:sp>
    </p:spTree>
    <p:extLst>
      <p:ext uri="{BB962C8B-B14F-4D97-AF65-F5344CB8AC3E}">
        <p14:creationId xmlns:p14="http://schemas.microsoft.com/office/powerpoint/2010/main" val="2026602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B48E3A-A36C-7114-EBAE-1EC8F96EB7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8FCA1F-E9D5-FA4A-6829-CD817E6AB6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5C6557-81B2-E724-8463-CFE83FB49F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AF6CA-53FC-431C-B24A-BF983D202BC5}" type="datetimeFigureOut">
              <a:rPr lang="en-US" smtClean="0"/>
              <a:t>12/11/2025</a:t>
            </a:fld>
            <a:endParaRPr lang="en-US"/>
          </a:p>
        </p:txBody>
      </p:sp>
      <p:sp>
        <p:nvSpPr>
          <p:cNvPr id="5" name="Footer Placeholder 4">
            <a:extLst>
              <a:ext uri="{FF2B5EF4-FFF2-40B4-BE49-F238E27FC236}">
                <a16:creationId xmlns:a16="http://schemas.microsoft.com/office/drawing/2014/main" id="{F653EC7B-475B-5225-CE57-E05668C9FF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A84082-3D81-6AF0-EDA2-FFF30A6305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D71B3C-FFCF-43F7-AC4B-0E7DB9C1DA3A}" type="slidenum">
              <a:rPr lang="en-US" smtClean="0"/>
              <a:t>‹#›</a:t>
            </a:fld>
            <a:endParaRPr lang="en-US"/>
          </a:p>
        </p:txBody>
      </p:sp>
    </p:spTree>
    <p:extLst>
      <p:ext uri="{BB962C8B-B14F-4D97-AF65-F5344CB8AC3E}">
        <p14:creationId xmlns:p14="http://schemas.microsoft.com/office/powerpoint/2010/main" val="2645716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F9A90-48CC-41A6-7AD9-07494A7BE974}"/>
              </a:ext>
            </a:extLst>
          </p:cNvPr>
          <p:cNvSpPr>
            <a:spLocks noGrp="1"/>
          </p:cNvSpPr>
          <p:nvPr>
            <p:ph type="ctrTitle"/>
          </p:nvPr>
        </p:nvSpPr>
        <p:spPr/>
        <p:txBody>
          <a:bodyPr/>
          <a:lstStyle/>
          <a:p>
            <a:r>
              <a:rPr lang="en-US" dirty="0"/>
              <a:t>BELLAFIT</a:t>
            </a:r>
          </a:p>
        </p:txBody>
      </p:sp>
    </p:spTree>
    <p:extLst>
      <p:ext uri="{BB962C8B-B14F-4D97-AF65-F5344CB8AC3E}">
        <p14:creationId xmlns:p14="http://schemas.microsoft.com/office/powerpoint/2010/main" val="2522140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7A23-D4EA-20C1-F612-86D40B6ABD92}"/>
              </a:ext>
            </a:extLst>
          </p:cNvPr>
          <p:cNvSpPr>
            <a:spLocks noGrp="1"/>
          </p:cNvSpPr>
          <p:nvPr>
            <p:ph type="title"/>
          </p:nvPr>
        </p:nvSpPr>
        <p:spPr/>
        <p:txBody>
          <a:bodyPr/>
          <a:lstStyle/>
          <a:p>
            <a:r>
              <a:rPr lang="en-US" dirty="0"/>
              <a:t>Project description.</a:t>
            </a:r>
          </a:p>
        </p:txBody>
      </p:sp>
      <p:sp>
        <p:nvSpPr>
          <p:cNvPr id="3" name="Content Placeholder 2">
            <a:extLst>
              <a:ext uri="{FF2B5EF4-FFF2-40B4-BE49-F238E27FC236}">
                <a16:creationId xmlns:a16="http://schemas.microsoft.com/office/drawing/2014/main" id="{13B11E61-2E6E-5AC9-7B86-7CAD4259A1A8}"/>
              </a:ext>
            </a:extLst>
          </p:cNvPr>
          <p:cNvSpPr>
            <a:spLocks noGrp="1"/>
          </p:cNvSpPr>
          <p:nvPr>
            <p:ph idx="1"/>
          </p:nvPr>
        </p:nvSpPr>
        <p:spPr/>
        <p:txBody>
          <a:bodyPr/>
          <a:lstStyle/>
          <a:p>
            <a:r>
              <a:rPr lang="en-US" dirty="0"/>
              <a:t>This project entails an analysis of fitness data to deduct how the  findings can be tailored to improve sales and profit for Bella Fit, a company that focuses on fitness products for women.</a:t>
            </a:r>
          </a:p>
          <a:p>
            <a:r>
              <a:rPr lang="en-US" dirty="0"/>
              <a:t>Key analyses include the age distribution to identify the target market.</a:t>
            </a:r>
          </a:p>
          <a:p>
            <a:r>
              <a:rPr lang="en-US" dirty="0"/>
              <a:t> Analysis of types of activities</a:t>
            </a:r>
          </a:p>
          <a:p>
            <a:r>
              <a:rPr lang="en-US" dirty="0"/>
              <a:t>Health conditions in relation to fitness. </a:t>
            </a:r>
          </a:p>
          <a:p>
            <a:r>
              <a:rPr lang="en-US" dirty="0"/>
              <a:t>Stress levels based on sleep, steps and activity levels. </a:t>
            </a:r>
          </a:p>
          <a:p>
            <a:r>
              <a:rPr lang="en-US" dirty="0"/>
              <a:t>Data source: Kaggle</a:t>
            </a:r>
          </a:p>
          <a:p>
            <a:endParaRPr lang="en-US" dirty="0"/>
          </a:p>
        </p:txBody>
      </p:sp>
    </p:spTree>
    <p:extLst>
      <p:ext uri="{BB962C8B-B14F-4D97-AF65-F5344CB8AC3E}">
        <p14:creationId xmlns:p14="http://schemas.microsoft.com/office/powerpoint/2010/main" val="102103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26FA5-F9D3-DABD-BC4F-F22B2F688AE7}"/>
              </a:ext>
            </a:extLst>
          </p:cNvPr>
          <p:cNvSpPr>
            <a:spLocks noGrp="1"/>
          </p:cNvSpPr>
          <p:nvPr>
            <p:ph type="title"/>
          </p:nvPr>
        </p:nvSpPr>
        <p:spPr/>
        <p:txBody>
          <a:bodyPr/>
          <a:lstStyle/>
          <a:p>
            <a:r>
              <a:rPr lang="en-US" dirty="0"/>
              <a:t>Questions </a:t>
            </a:r>
            <a:r>
              <a:rPr lang="en-US" dirty="0" err="1"/>
              <a:t>answerd</a:t>
            </a:r>
            <a:endParaRPr lang="en-US" dirty="0"/>
          </a:p>
        </p:txBody>
      </p:sp>
      <p:sp>
        <p:nvSpPr>
          <p:cNvPr id="3" name="Content Placeholder 2">
            <a:extLst>
              <a:ext uri="{FF2B5EF4-FFF2-40B4-BE49-F238E27FC236}">
                <a16:creationId xmlns:a16="http://schemas.microsoft.com/office/drawing/2014/main" id="{664A0A7D-E63B-3E48-5D1B-7666D5571A76}"/>
              </a:ext>
            </a:extLst>
          </p:cNvPr>
          <p:cNvSpPr>
            <a:spLocks noGrp="1"/>
          </p:cNvSpPr>
          <p:nvPr>
            <p:ph idx="1"/>
          </p:nvPr>
        </p:nvSpPr>
        <p:spPr/>
        <p:txBody>
          <a:bodyPr/>
          <a:lstStyle/>
          <a:p>
            <a:pPr marL="0" indent="0">
              <a:buNone/>
            </a:pPr>
            <a:r>
              <a:rPr lang="en-US"/>
              <a:t>Which </a:t>
            </a:r>
            <a:r>
              <a:rPr lang="en-US" dirty="0"/>
              <a:t>activity  burns the most calories?</a:t>
            </a:r>
          </a:p>
          <a:p>
            <a:r>
              <a:rPr lang="en-US" dirty="0"/>
              <a:t>How does hydration level affect fitness?</a:t>
            </a:r>
          </a:p>
          <a:p>
            <a:r>
              <a:rPr lang="en-US" dirty="0"/>
              <a:t>How does health conditions influence fitness ?</a:t>
            </a:r>
          </a:p>
          <a:p>
            <a:r>
              <a:rPr lang="en-US" dirty="0"/>
              <a:t>Which age category practices fitness more?</a:t>
            </a:r>
          </a:p>
          <a:p>
            <a:endParaRPr lang="en-US" dirty="0"/>
          </a:p>
        </p:txBody>
      </p:sp>
    </p:spTree>
    <p:extLst>
      <p:ext uri="{BB962C8B-B14F-4D97-AF65-F5344CB8AC3E}">
        <p14:creationId xmlns:p14="http://schemas.microsoft.com/office/powerpoint/2010/main" val="2765250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95E-E9F5-6EAD-FBC3-DD54CB5FA73C}"/>
              </a:ext>
            </a:extLst>
          </p:cNvPr>
          <p:cNvSpPr>
            <a:spLocks noGrp="1"/>
          </p:cNvSpPr>
          <p:nvPr>
            <p:ph type="title"/>
          </p:nvPr>
        </p:nvSpPr>
        <p:spPr/>
        <p:txBody>
          <a:bodyPr/>
          <a:lstStyle/>
          <a:p>
            <a:r>
              <a:rPr lang="en-US" dirty="0"/>
              <a:t>Age Distribution</a:t>
            </a:r>
          </a:p>
        </p:txBody>
      </p:sp>
      <p:pic>
        <p:nvPicPr>
          <p:cNvPr id="5" name="Content Placeholder 4">
            <a:extLst>
              <a:ext uri="{FF2B5EF4-FFF2-40B4-BE49-F238E27FC236}">
                <a16:creationId xmlns:a16="http://schemas.microsoft.com/office/drawing/2014/main" id="{F0E3EF99-3255-117F-7DD8-174C09C1FB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6199" y="2605581"/>
            <a:ext cx="5830114" cy="2200582"/>
          </a:xfrm>
        </p:spPr>
      </p:pic>
    </p:spTree>
    <p:extLst>
      <p:ext uri="{BB962C8B-B14F-4D97-AF65-F5344CB8AC3E}">
        <p14:creationId xmlns:p14="http://schemas.microsoft.com/office/powerpoint/2010/main" val="727969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022B-1D8F-3546-F736-161A40CDD866}"/>
              </a:ext>
            </a:extLst>
          </p:cNvPr>
          <p:cNvSpPr>
            <a:spLocks noGrp="1"/>
          </p:cNvSpPr>
          <p:nvPr>
            <p:ph type="title"/>
          </p:nvPr>
        </p:nvSpPr>
        <p:spPr/>
        <p:txBody>
          <a:bodyPr/>
          <a:lstStyle/>
          <a:p>
            <a:r>
              <a:rPr lang="en-US" dirty="0"/>
              <a:t>Target market</a:t>
            </a:r>
          </a:p>
        </p:txBody>
      </p:sp>
      <p:sp>
        <p:nvSpPr>
          <p:cNvPr id="3" name="Content Placeholder 2">
            <a:extLst>
              <a:ext uri="{FF2B5EF4-FFF2-40B4-BE49-F238E27FC236}">
                <a16:creationId xmlns:a16="http://schemas.microsoft.com/office/drawing/2014/main" id="{7265BB00-FFD9-EBBF-2C7A-FCB276CE044C}"/>
              </a:ext>
            </a:extLst>
          </p:cNvPr>
          <p:cNvSpPr>
            <a:spLocks noGrp="1"/>
          </p:cNvSpPr>
          <p:nvPr>
            <p:ph idx="1"/>
          </p:nvPr>
        </p:nvSpPr>
        <p:spPr/>
        <p:txBody>
          <a:bodyPr/>
          <a:lstStyle/>
          <a:p>
            <a:r>
              <a:rPr lang="en-US" dirty="0"/>
              <a:t>Women aged 25-40</a:t>
            </a:r>
          </a:p>
          <a:p>
            <a:r>
              <a:rPr lang="en-US" dirty="0"/>
              <a:t>From the Age distribution,  Bella fit can target their new marketing campaigns to 25-40 year old women. </a:t>
            </a:r>
          </a:p>
          <a:p>
            <a:endParaRPr lang="en-US" dirty="0"/>
          </a:p>
        </p:txBody>
      </p:sp>
    </p:spTree>
    <p:extLst>
      <p:ext uri="{BB962C8B-B14F-4D97-AF65-F5344CB8AC3E}">
        <p14:creationId xmlns:p14="http://schemas.microsoft.com/office/powerpoint/2010/main" val="3254469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E6C5-2442-CA8A-AB0D-AC547E14B7AB}"/>
              </a:ext>
            </a:extLst>
          </p:cNvPr>
          <p:cNvSpPr>
            <a:spLocks noGrp="1"/>
          </p:cNvSpPr>
          <p:nvPr>
            <p:ph type="title"/>
          </p:nvPr>
        </p:nvSpPr>
        <p:spPr/>
        <p:txBody>
          <a:bodyPr/>
          <a:lstStyle/>
          <a:p>
            <a:r>
              <a:rPr lang="en-US" dirty="0"/>
              <a:t>Activity Types</a:t>
            </a:r>
          </a:p>
        </p:txBody>
      </p:sp>
      <p:sp>
        <p:nvSpPr>
          <p:cNvPr id="3" name="Content Placeholder 2">
            <a:extLst>
              <a:ext uri="{FF2B5EF4-FFF2-40B4-BE49-F238E27FC236}">
                <a16:creationId xmlns:a16="http://schemas.microsoft.com/office/drawing/2014/main" id="{D85C277F-69E9-AE5C-A721-389A5C7D89C3}"/>
              </a:ext>
            </a:extLst>
          </p:cNvPr>
          <p:cNvSpPr>
            <a:spLocks noGrp="1"/>
          </p:cNvSpPr>
          <p:nvPr>
            <p:ph idx="1"/>
          </p:nvPr>
        </p:nvSpPr>
        <p:spPr/>
        <p:txBody>
          <a:bodyPr/>
          <a:lstStyle/>
          <a:p>
            <a:r>
              <a:rPr lang="en-US" dirty="0"/>
              <a:t>HIIT (High Intensity training) is the most common  activity followed by running and cycling.  </a:t>
            </a:r>
          </a:p>
          <a:p>
            <a:r>
              <a:rPr lang="en-US" dirty="0"/>
              <a:t>Company can maximize profit by pushing and marketing products for HIIT such training shoes, watches and bracelets that measure heart rate and calorie burn.</a:t>
            </a:r>
          </a:p>
        </p:txBody>
      </p:sp>
    </p:spTree>
    <p:extLst>
      <p:ext uri="{BB962C8B-B14F-4D97-AF65-F5344CB8AC3E}">
        <p14:creationId xmlns:p14="http://schemas.microsoft.com/office/powerpoint/2010/main" val="649451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CCB3-9F66-74AB-1EC8-0A67CA137846}"/>
              </a:ext>
            </a:extLst>
          </p:cNvPr>
          <p:cNvSpPr>
            <a:spLocks noGrp="1"/>
          </p:cNvSpPr>
          <p:nvPr>
            <p:ph type="title"/>
          </p:nvPr>
        </p:nvSpPr>
        <p:spPr/>
        <p:txBody>
          <a:bodyPr/>
          <a:lstStyle/>
          <a:p>
            <a:r>
              <a:rPr lang="en-US" dirty="0"/>
              <a:t>Activity vs Calories burned</a:t>
            </a:r>
          </a:p>
        </p:txBody>
      </p:sp>
      <p:pic>
        <p:nvPicPr>
          <p:cNvPr id="9" name="Content Placeholder 8">
            <a:extLst>
              <a:ext uri="{FF2B5EF4-FFF2-40B4-BE49-F238E27FC236}">
                <a16:creationId xmlns:a16="http://schemas.microsoft.com/office/drawing/2014/main" id="{2F5E0709-D4A4-7873-34D8-6A7D1EB2A2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2811" y="2115081"/>
            <a:ext cx="6106377" cy="3772426"/>
          </a:xfrm>
        </p:spPr>
      </p:pic>
    </p:spTree>
    <p:extLst>
      <p:ext uri="{BB962C8B-B14F-4D97-AF65-F5344CB8AC3E}">
        <p14:creationId xmlns:p14="http://schemas.microsoft.com/office/powerpoint/2010/main" val="4069704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187D5-8284-5041-E16C-DE51E7ECF830}"/>
              </a:ext>
            </a:extLst>
          </p:cNvPr>
          <p:cNvSpPr>
            <a:spLocks noGrp="1"/>
          </p:cNvSpPr>
          <p:nvPr>
            <p:ph type="title"/>
          </p:nvPr>
        </p:nvSpPr>
        <p:spPr/>
        <p:txBody>
          <a:bodyPr/>
          <a:lstStyle/>
          <a:p>
            <a:r>
              <a:rPr lang="en-US" dirty="0"/>
              <a:t>Health Conditions</a:t>
            </a:r>
          </a:p>
        </p:txBody>
      </p:sp>
      <p:sp>
        <p:nvSpPr>
          <p:cNvPr id="3" name="Content Placeholder 2">
            <a:extLst>
              <a:ext uri="{FF2B5EF4-FFF2-40B4-BE49-F238E27FC236}">
                <a16:creationId xmlns:a16="http://schemas.microsoft.com/office/drawing/2014/main" id="{1DBD0B8D-D2C4-9E18-64FC-908F5E7AC0DC}"/>
              </a:ext>
            </a:extLst>
          </p:cNvPr>
          <p:cNvSpPr>
            <a:spLocks noGrp="1"/>
          </p:cNvSpPr>
          <p:nvPr>
            <p:ph idx="1"/>
          </p:nvPr>
        </p:nvSpPr>
        <p:spPr/>
        <p:txBody>
          <a:bodyPr/>
          <a:lstStyle/>
          <a:p>
            <a:r>
              <a:rPr lang="en-US" dirty="0"/>
              <a:t>Hypertension is the leading condition amongst people that practice fitness followed by  Asthma. </a:t>
            </a:r>
          </a:p>
          <a:p>
            <a:r>
              <a:rPr lang="en-US" dirty="0"/>
              <a:t>All together people with health conditions participate more in fitness programs as compared to those without any health challenges. </a:t>
            </a:r>
          </a:p>
          <a:p>
            <a:r>
              <a:rPr lang="en-US" dirty="0"/>
              <a:t> Company should design products and develop campaigns  for products focused on these groups</a:t>
            </a:r>
          </a:p>
          <a:p>
            <a:endParaRPr lang="en-US" dirty="0"/>
          </a:p>
        </p:txBody>
      </p:sp>
    </p:spTree>
    <p:extLst>
      <p:ext uri="{BB962C8B-B14F-4D97-AF65-F5344CB8AC3E}">
        <p14:creationId xmlns:p14="http://schemas.microsoft.com/office/powerpoint/2010/main" val="3663341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6369-048A-8B7E-34A5-609D00D4006A}"/>
              </a:ext>
            </a:extLst>
          </p:cNvPr>
          <p:cNvSpPr>
            <a:spLocks noGrp="1"/>
          </p:cNvSpPr>
          <p:nvPr>
            <p:ph type="title"/>
          </p:nvPr>
        </p:nvSpPr>
        <p:spPr/>
        <p:txBody>
          <a:bodyPr/>
          <a:lstStyle/>
          <a:p>
            <a:r>
              <a:rPr lang="en-US" dirty="0"/>
              <a:t>Fitness levels based on health condition</a:t>
            </a:r>
          </a:p>
        </p:txBody>
      </p:sp>
      <p:pic>
        <p:nvPicPr>
          <p:cNvPr id="5" name="Content Placeholder 4">
            <a:extLst>
              <a:ext uri="{FF2B5EF4-FFF2-40B4-BE49-F238E27FC236}">
                <a16:creationId xmlns:a16="http://schemas.microsoft.com/office/drawing/2014/main" id="{A6E8D492-358C-C7E0-2A56-AC3C52A29B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8048" y="2115081"/>
            <a:ext cx="6115904" cy="3772426"/>
          </a:xfrm>
        </p:spPr>
      </p:pic>
    </p:spTree>
    <p:extLst>
      <p:ext uri="{BB962C8B-B14F-4D97-AF65-F5344CB8AC3E}">
        <p14:creationId xmlns:p14="http://schemas.microsoft.com/office/powerpoint/2010/main" val="3082075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E954D-5D74-08E7-E587-E5A45DCDE177}"/>
              </a:ext>
            </a:extLst>
          </p:cNvPr>
          <p:cNvSpPr>
            <a:spLocks noGrp="1"/>
          </p:cNvSpPr>
          <p:nvPr>
            <p:ph type="title"/>
          </p:nvPr>
        </p:nvSpPr>
        <p:spPr/>
        <p:txBody>
          <a:bodyPr/>
          <a:lstStyle/>
          <a:p>
            <a:r>
              <a:rPr lang="en-US" dirty="0"/>
              <a:t>Smoking Status</a:t>
            </a:r>
          </a:p>
        </p:txBody>
      </p:sp>
      <p:pic>
        <p:nvPicPr>
          <p:cNvPr id="5" name="Content Placeholder 4">
            <a:extLst>
              <a:ext uri="{FF2B5EF4-FFF2-40B4-BE49-F238E27FC236}">
                <a16:creationId xmlns:a16="http://schemas.microsoft.com/office/drawing/2014/main" id="{81C1B53E-A58C-EB6D-F7FF-CED67F9B8B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6153" y="2138896"/>
            <a:ext cx="6039693" cy="3724795"/>
          </a:xfrm>
        </p:spPr>
      </p:pic>
    </p:spTree>
    <p:extLst>
      <p:ext uri="{BB962C8B-B14F-4D97-AF65-F5344CB8AC3E}">
        <p14:creationId xmlns:p14="http://schemas.microsoft.com/office/powerpoint/2010/main" val="95097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E5121-2F43-7A70-91FB-1D9113997E20}"/>
              </a:ext>
            </a:extLst>
          </p:cNvPr>
          <p:cNvSpPr>
            <a:spLocks noGrp="1"/>
          </p:cNvSpPr>
          <p:nvPr>
            <p:ph type="title"/>
          </p:nvPr>
        </p:nvSpPr>
        <p:spPr/>
        <p:txBody>
          <a:bodyPr/>
          <a:lstStyle/>
          <a:p>
            <a:r>
              <a:rPr lang="en-US" dirty="0"/>
              <a:t>Sleep vs Stress levels</a:t>
            </a:r>
          </a:p>
        </p:txBody>
      </p:sp>
      <p:pic>
        <p:nvPicPr>
          <p:cNvPr id="6" name="Content Placeholder 5">
            <a:extLst>
              <a:ext uri="{FF2B5EF4-FFF2-40B4-BE49-F238E27FC236}">
                <a16:creationId xmlns:a16="http://schemas.microsoft.com/office/drawing/2014/main" id="{5CABADB0-A8BB-CAB7-8D3A-3177F41E27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180942" y="2110153"/>
            <a:ext cx="6764915" cy="3432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109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C5270-9D99-C405-44A2-7E08E68762F9}"/>
              </a:ext>
            </a:extLst>
          </p:cNvPr>
          <p:cNvSpPr>
            <a:spLocks noGrp="1"/>
          </p:cNvSpPr>
          <p:nvPr>
            <p:ph type="title"/>
          </p:nvPr>
        </p:nvSpPr>
        <p:spPr/>
        <p:txBody>
          <a:bodyPr/>
          <a:lstStyle/>
          <a:p>
            <a:r>
              <a:rPr lang="en-US" dirty="0"/>
              <a:t>Stress levels </a:t>
            </a:r>
          </a:p>
        </p:txBody>
      </p:sp>
      <p:sp>
        <p:nvSpPr>
          <p:cNvPr id="3" name="Content Placeholder 2">
            <a:extLst>
              <a:ext uri="{FF2B5EF4-FFF2-40B4-BE49-F238E27FC236}">
                <a16:creationId xmlns:a16="http://schemas.microsoft.com/office/drawing/2014/main" id="{4E06D1C4-85AA-8B13-D6E3-C6A4CC597AB3}"/>
              </a:ext>
            </a:extLst>
          </p:cNvPr>
          <p:cNvSpPr>
            <a:spLocks noGrp="1"/>
          </p:cNvSpPr>
          <p:nvPr>
            <p:ph idx="1"/>
          </p:nvPr>
        </p:nvSpPr>
        <p:spPr/>
        <p:txBody>
          <a:bodyPr/>
          <a:lstStyle/>
          <a:p>
            <a:r>
              <a:rPr lang="en-US" dirty="0"/>
              <a:t>Stress levels are lower when people are hydrated. </a:t>
            </a:r>
          </a:p>
          <a:p>
            <a:r>
              <a:rPr lang="en-US" dirty="0"/>
              <a:t>The marketing team can promote their water bottle  with this campaign.</a:t>
            </a:r>
          </a:p>
          <a:p>
            <a:endParaRPr lang="en-US" dirty="0"/>
          </a:p>
        </p:txBody>
      </p:sp>
    </p:spTree>
    <p:extLst>
      <p:ext uri="{BB962C8B-B14F-4D97-AF65-F5344CB8AC3E}">
        <p14:creationId xmlns:p14="http://schemas.microsoft.com/office/powerpoint/2010/main" val="3561253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4073-43B9-D5FF-4C3E-ED413132F8A2}"/>
              </a:ext>
            </a:extLst>
          </p:cNvPr>
          <p:cNvSpPr>
            <a:spLocks noGrp="1"/>
          </p:cNvSpPr>
          <p:nvPr>
            <p:ph type="title"/>
          </p:nvPr>
        </p:nvSpPr>
        <p:spPr/>
        <p:txBody>
          <a:bodyPr/>
          <a:lstStyle/>
          <a:p>
            <a:r>
              <a:rPr lang="en-US" dirty="0"/>
              <a:t>Hydration vs Stress</a:t>
            </a:r>
          </a:p>
        </p:txBody>
      </p:sp>
      <p:pic>
        <p:nvPicPr>
          <p:cNvPr id="5" name="Content Placeholder 4">
            <a:extLst>
              <a:ext uri="{FF2B5EF4-FFF2-40B4-BE49-F238E27FC236}">
                <a16:creationId xmlns:a16="http://schemas.microsoft.com/office/drawing/2014/main" id="{680772D8-6D42-4D5D-0BF7-DB1B27DF44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6153" y="2138896"/>
            <a:ext cx="6039693" cy="3724795"/>
          </a:xfrm>
        </p:spPr>
      </p:pic>
    </p:spTree>
    <p:extLst>
      <p:ext uri="{BB962C8B-B14F-4D97-AF65-F5344CB8AC3E}">
        <p14:creationId xmlns:p14="http://schemas.microsoft.com/office/powerpoint/2010/main" val="1994963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00C9B-C9A0-F4C5-A84D-EFE00FB7440E}"/>
              </a:ext>
            </a:extLst>
          </p:cNvPr>
          <p:cNvSpPr>
            <a:spLocks noGrp="1"/>
          </p:cNvSpPr>
          <p:nvPr>
            <p:ph type="title"/>
          </p:nvPr>
        </p:nvSpPr>
        <p:spPr/>
        <p:txBody>
          <a:bodyPr/>
          <a:lstStyle/>
          <a:p>
            <a:r>
              <a:rPr lang="en-US" dirty="0"/>
              <a:t>Hydration(mean) vs Stress Level</a:t>
            </a:r>
          </a:p>
        </p:txBody>
      </p:sp>
      <p:pic>
        <p:nvPicPr>
          <p:cNvPr id="5" name="Content Placeholder 4">
            <a:extLst>
              <a:ext uri="{FF2B5EF4-FFF2-40B4-BE49-F238E27FC236}">
                <a16:creationId xmlns:a16="http://schemas.microsoft.com/office/drawing/2014/main" id="{B8061957-5868-26B4-29AA-8997F5151E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6153" y="2138896"/>
            <a:ext cx="6039693" cy="3724795"/>
          </a:xfrm>
        </p:spPr>
      </p:pic>
    </p:spTree>
    <p:extLst>
      <p:ext uri="{BB962C8B-B14F-4D97-AF65-F5344CB8AC3E}">
        <p14:creationId xmlns:p14="http://schemas.microsoft.com/office/powerpoint/2010/main" val="2700460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70E0B-319C-4397-0F77-24E5B14A0E41}"/>
              </a:ext>
            </a:extLst>
          </p:cNvPr>
          <p:cNvSpPr>
            <a:spLocks noGrp="1"/>
          </p:cNvSpPr>
          <p:nvPr>
            <p:ph type="title"/>
          </p:nvPr>
        </p:nvSpPr>
        <p:spPr/>
        <p:txBody>
          <a:bodyPr/>
          <a:lstStyle/>
          <a:p>
            <a:r>
              <a:rPr lang="en-US" dirty="0"/>
              <a:t>STEPS VS STRESS</a:t>
            </a:r>
          </a:p>
        </p:txBody>
      </p:sp>
      <p:pic>
        <p:nvPicPr>
          <p:cNvPr id="5" name="Content Placeholder 4">
            <a:extLst>
              <a:ext uri="{FF2B5EF4-FFF2-40B4-BE49-F238E27FC236}">
                <a16:creationId xmlns:a16="http://schemas.microsoft.com/office/drawing/2014/main" id="{F80F7530-C4BD-CD7D-4FC8-7E96218B55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2811" y="2115081"/>
            <a:ext cx="6106377" cy="3772426"/>
          </a:xfrm>
        </p:spPr>
      </p:pic>
    </p:spTree>
    <p:extLst>
      <p:ext uri="{BB962C8B-B14F-4D97-AF65-F5344CB8AC3E}">
        <p14:creationId xmlns:p14="http://schemas.microsoft.com/office/powerpoint/2010/main" val="1091373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4333C-DDA5-7553-D632-0F4E67E2C12F}"/>
              </a:ext>
            </a:extLst>
          </p:cNvPr>
          <p:cNvSpPr>
            <a:spLocks noGrp="1"/>
          </p:cNvSpPr>
          <p:nvPr>
            <p:ph type="title"/>
          </p:nvPr>
        </p:nvSpPr>
        <p:spPr/>
        <p:txBody>
          <a:bodyPr/>
          <a:lstStyle/>
          <a:p>
            <a:r>
              <a:rPr lang="en-US" dirty="0"/>
              <a:t>Conclusion and recommendations.</a:t>
            </a:r>
          </a:p>
        </p:txBody>
      </p:sp>
      <p:sp>
        <p:nvSpPr>
          <p:cNvPr id="3" name="Content Placeholder 2">
            <a:extLst>
              <a:ext uri="{FF2B5EF4-FFF2-40B4-BE49-F238E27FC236}">
                <a16:creationId xmlns:a16="http://schemas.microsoft.com/office/drawing/2014/main" id="{EE913FB3-4AD8-1ADE-EF73-211A4AB614CD}"/>
              </a:ext>
            </a:extLst>
          </p:cNvPr>
          <p:cNvSpPr>
            <a:spLocks noGrp="1"/>
          </p:cNvSpPr>
          <p:nvPr>
            <p:ph idx="1"/>
          </p:nvPr>
        </p:nvSpPr>
        <p:spPr/>
        <p:txBody>
          <a:bodyPr/>
          <a:lstStyle/>
          <a:p>
            <a:r>
              <a:rPr lang="en-US" dirty="0"/>
              <a:t>From the Age distribution,  Bella fit can target their new marketing campaigns to 40 year old women. </a:t>
            </a:r>
          </a:p>
          <a:p>
            <a:r>
              <a:rPr lang="en-US" dirty="0"/>
              <a:t> HIIT (High Intensity training) is the most common  activity followed by running and cycling.  Company can maximize profit by pushing and marketing products for HIIT such training shoes, watches and bracelets that measure heart rate and calorie burn. </a:t>
            </a:r>
          </a:p>
          <a:p>
            <a:r>
              <a:rPr lang="en-US" dirty="0"/>
              <a:t>Stress levels are lower when people are hydrated. The marketing team can promote their water bottle  with this campaign.</a:t>
            </a:r>
          </a:p>
        </p:txBody>
      </p:sp>
    </p:spTree>
    <p:extLst>
      <p:ext uri="{BB962C8B-B14F-4D97-AF65-F5344CB8AC3E}">
        <p14:creationId xmlns:p14="http://schemas.microsoft.com/office/powerpoint/2010/main" val="4285372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2708</TotalTime>
  <Words>370</Words>
  <Application>Microsoft Office PowerPoint</Application>
  <PresentationFormat>Widescreen</PresentationFormat>
  <Paragraphs>38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BELLAFIT</vt:lpstr>
      <vt:lpstr>Project description.</vt:lpstr>
      <vt:lpstr>Questions answerd</vt:lpstr>
      <vt:lpstr>Age Distribution</vt:lpstr>
      <vt:lpstr>Target market</vt:lpstr>
      <vt:lpstr>Activity Types</vt:lpstr>
      <vt:lpstr>Activity vs Calories burned</vt:lpstr>
      <vt:lpstr>Health Conditions</vt:lpstr>
      <vt:lpstr>Fitness levels based on health condition</vt:lpstr>
      <vt:lpstr>Smoking Status</vt:lpstr>
      <vt:lpstr>Sleep vs Stress levels</vt:lpstr>
      <vt:lpstr>Stress levels </vt:lpstr>
      <vt:lpstr>Hydration vs Stress</vt:lpstr>
      <vt:lpstr>Hydration(mean) vs Stress Level</vt:lpstr>
      <vt:lpstr>STEPS VS STRESS</vt:lpstr>
      <vt:lpstr>Conclusion and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Hebisibah Atuti</dc:creator>
  <cp:lastModifiedBy>Hebisibah Atuti</cp:lastModifiedBy>
  <cp:revision>24</cp:revision>
  <dcterms:created xsi:type="dcterms:W3CDTF">2025-12-11T09:38:39Z</dcterms:created>
  <dcterms:modified xsi:type="dcterms:W3CDTF">2025-12-13T06:47:17Z</dcterms:modified>
</cp:coreProperties>
</file>